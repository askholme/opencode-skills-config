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E28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Building Blocks of AI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009B81"/>
          </a:solidFill>
          <a:ln/>
        </p:spPr>
      </p:sp>
      <p:pic>
        <p:nvPicPr>
          <p:cNvPr id="4" name="Image 0" descr="/home/ask/sync/projects/dev/numa-ai-pre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" y="11430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70627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2316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intelligence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Opus, Sonnet,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Grok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57830" y="10515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0E2841"/>
          </a:solidFill>
          <a:ln/>
        </p:spPr>
      </p:sp>
      <p:pic>
        <p:nvPicPr>
          <p:cNvPr id="11" name="Image 1" descr="/home/ask/sync/projects/dev/numa-ai-pres/icons/ham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086" y="11430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0710" y="182880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940710" y="2286000"/>
            <a:ext cx="170627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40710" y="242316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instructions for a specific task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40710" y="361188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940710" y="388620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.pptx",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"Proofread a doc"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58461" y="10515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8FA1FF"/>
          </a:solidFill>
          <a:ln/>
        </p:spPr>
      </p:sp>
      <p:pic>
        <p:nvPicPr>
          <p:cNvPr id="18" name="Image 2" descr="/home/ask/sync/projects/dev/numa-ai-pres/icons/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1430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1341" y="182880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241341" y="2286000"/>
            <a:ext cx="170627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41341" y="242316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personality — static instructions that steer focus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41341" y="361188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241341" y="388620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business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consultant: rigorous,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359091" y="10515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562C"/>
          </a:solidFill>
          <a:ln/>
        </p:spPr>
      </p:sp>
      <p:pic>
        <p:nvPicPr>
          <p:cNvPr id="25" name="Image 3" descr="/home/ask/sync/projects/dev/numa-ai-pres/icons/conne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46" y="114300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41971" y="182880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/ MCP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541971" y="2286000"/>
            <a:ext cx="170627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41971" y="242316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that lets the model reach external systems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541971" y="361188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541971" y="388620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Notion,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CRM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659722" y="10515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943C31"/>
          </a:solidFill>
          <a:ln/>
        </p:spPr>
      </p:sp>
      <p:pic>
        <p:nvPicPr>
          <p:cNvPr id="32" name="Image 4" descr="/home/ask/sync/projects/dev/numa-ai-pres/icons/sew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9977" y="1143000"/>
            <a:ext cx="731520" cy="7315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42602" y="182880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9842602" y="2286000"/>
            <a:ext cx="170627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842602" y="242316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wrapper — data flow, tools, model access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842602" y="3611880"/>
            <a:ext cx="1706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842602" y="3886200"/>
            <a:ext cx="1706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E28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 Typically See — A Curated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9445752" cy="5120640"/>
          </a:xfrm>
          <a:prstGeom prst="roundRect">
            <a:avLst>
              <a:gd name="adj" fmla="val 3571"/>
            </a:avLst>
          </a:prstGeom>
          <a:solidFill>
            <a:srgbClr val="0E284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2588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Harness — e.g. Claude Cowork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pre-assembled package of building blocks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2240280"/>
            <a:ext cx="87142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2240280"/>
            <a:ext cx="54864" cy="868680"/>
          </a:xfrm>
          <a:prstGeom prst="rect">
            <a:avLst/>
          </a:prstGeom>
          <a:solidFill>
            <a:srgbClr val="943C31"/>
          </a:solidFill>
          <a:ln/>
        </p:spPr>
      </p:sp>
      <p:pic>
        <p:nvPicPr>
          <p:cNvPr id="8" name="Image 0" descr="/home/ask/sync/projects/dev/numa-ai-pres/icons/se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468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2350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679192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files, runs todo lists, manages tool access, and adds memory across chats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737360" y="3246120"/>
            <a:ext cx="87142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737360" y="3246120"/>
            <a:ext cx="54864" cy="868680"/>
          </a:xfrm>
          <a:prstGeom prst="rect">
            <a:avLst/>
          </a:prstGeom>
          <a:solidFill>
            <a:srgbClr val="8FA1FF"/>
          </a:solidFill>
          <a:ln/>
        </p:spPr>
      </p:sp>
      <p:pic>
        <p:nvPicPr>
          <p:cNvPr id="13" name="Image 1" descr="/home/ask/sync/projects/dev/numa-ai-pres/icons/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474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560320" y="3685032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personality that steers focus; Projects feature allows multiple agents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737360" y="4251960"/>
            <a:ext cx="87142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737360" y="4251960"/>
            <a:ext cx="54864" cy="868680"/>
          </a:xfrm>
          <a:prstGeom prst="rect">
            <a:avLst/>
          </a:prstGeom>
          <a:solidFill>
            <a:srgbClr val="009B81"/>
          </a:solidFill>
          <a:ln/>
        </p:spPr>
      </p:sp>
      <p:pic>
        <p:nvPicPr>
          <p:cNvPr id="18" name="Image 2" descr="/home/ask/sync/projects/dev/numa-ai-pres/icons/ham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44805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0320" y="4361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560320" y="4690872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built-in skills (docx, pptx, …); you can install more from a library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737360" y="5257800"/>
            <a:ext cx="87142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737360" y="5257800"/>
            <a:ext cx="54864" cy="868680"/>
          </a:xfrm>
          <a:prstGeom prst="rect">
            <a:avLst/>
          </a:prstGeom>
          <a:solidFill>
            <a:srgbClr val="FF562C"/>
          </a:solidFill>
          <a:ln/>
        </p:spPr>
      </p:sp>
      <p:pic>
        <p:nvPicPr>
          <p:cNvPr id="23" name="Image 3" descr="/home/ask/sync/projects/dev/numa-ai-pres/icons/conne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54864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6032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560320" y="5696712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marketplace for connections to major SaaS tools (email, calendar, CRM, …)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E28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Context: The AI Does Not Actually Have Memory!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A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Simplified: each call sends the full conversation so far. The harness orchestrates what actually goes 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3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6444"/>
            <a:ext cx="256032" cy="256032"/>
          </a:xfrm>
          <a:prstGeom prst="rect">
            <a:avLst/>
          </a:prstGeom>
          <a:solidFill>
            <a:srgbClr val="943C3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6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" y="960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960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1385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03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14016" y="896112"/>
            <a:ext cx="1371600" cy="996696"/>
          </a:xfrm>
          <a:prstGeom prst="roundRect">
            <a:avLst>
              <a:gd name="adj" fmla="val 9174"/>
            </a:avLst>
          </a:prstGeom>
          <a:solidFill>
            <a:srgbClr val="009B81"/>
          </a:solidFill>
          <a:ln/>
        </p:spPr>
      </p:sp>
      <p:pic>
        <p:nvPicPr>
          <p:cNvPr id="12" name="Image 0" descr="/home/ask/sync/projects/dev/numa-ai-pre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656" y="94183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14016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22192" y="1385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1303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59936" y="9646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E2841"/>
          </a:solidFill>
          <a:ln/>
        </p:spPr>
      </p:sp>
      <p:sp>
        <p:nvSpPr>
          <p:cNvPr id="17" name="Text 14"/>
          <p:cNvSpPr/>
          <p:nvPr/>
        </p:nvSpPr>
        <p:spPr>
          <a:xfrm>
            <a:off x="4059936" y="9646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59936" y="126644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562C"/>
          </a:solidFill>
          <a:ln/>
        </p:spPr>
      </p:sp>
      <p:sp>
        <p:nvSpPr>
          <p:cNvPr id="19" name="Text 16"/>
          <p:cNvSpPr/>
          <p:nvPr/>
        </p:nvSpPr>
        <p:spPr>
          <a:xfrm>
            <a:off x="4059936" y="12664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59936" y="156819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9B81"/>
          </a:solidFill>
          <a:ln/>
        </p:spPr>
      </p:sp>
      <p:sp>
        <p:nvSpPr>
          <p:cNvPr id="21" name="Text 18"/>
          <p:cNvSpPr/>
          <p:nvPr/>
        </p:nvSpPr>
        <p:spPr>
          <a:xfrm>
            <a:off x="4059936" y="15681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90872" y="850392"/>
            <a:ext cx="18288" cy="1143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99816" y="841248"/>
            <a:ext cx="1600200" cy="1828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90672" y="850392"/>
            <a:ext cx="18288" cy="457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08376" y="8595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340096" y="1385316"/>
            <a:ext cx="91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22392" y="1394460"/>
            <a:ext cx="18288" cy="1143000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2528316"/>
            <a:ext cx="4663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" y="24460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68112" y="18013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2409444"/>
            <a:ext cx="256032" cy="256032"/>
          </a:xfrm>
          <a:prstGeom prst="rect">
            <a:avLst/>
          </a:prstGeom>
          <a:solidFill>
            <a:srgbClr val="943C31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2409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68096" y="2103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3816" y="2103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Tool Result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176272" y="2528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0" y="2446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414016" y="2039112"/>
            <a:ext cx="1371600" cy="996696"/>
          </a:xfrm>
          <a:prstGeom prst="roundRect">
            <a:avLst>
              <a:gd name="adj" fmla="val 9174"/>
            </a:avLst>
          </a:prstGeom>
          <a:solidFill>
            <a:srgbClr val="009B81"/>
          </a:solidFill>
          <a:ln/>
        </p:spPr>
      </p:sp>
      <p:pic>
        <p:nvPicPr>
          <p:cNvPr id="38" name="Image 1" descr="/home/ask/sync/projects/dev/numa-ai-pres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2084832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2414016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3822192" y="2528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931920" y="2446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059936" y="21076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E2841"/>
          </a:solidFill>
          <a:ln/>
        </p:spPr>
      </p:sp>
      <p:sp>
        <p:nvSpPr>
          <p:cNvPr id="43" name="Text 39"/>
          <p:cNvSpPr/>
          <p:nvPr/>
        </p:nvSpPr>
        <p:spPr>
          <a:xfrm>
            <a:off x="4059936" y="21076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4059936" y="240944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562C"/>
          </a:solidFill>
          <a:ln/>
        </p:spPr>
      </p:sp>
      <p:sp>
        <p:nvSpPr>
          <p:cNvPr id="45" name="Text 41"/>
          <p:cNvSpPr/>
          <p:nvPr/>
        </p:nvSpPr>
        <p:spPr>
          <a:xfrm>
            <a:off x="4059936" y="24094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4059936" y="271119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9B81"/>
          </a:solidFill>
          <a:ln/>
        </p:spPr>
      </p:sp>
      <p:sp>
        <p:nvSpPr>
          <p:cNvPr id="47" name="Text 43"/>
          <p:cNvSpPr/>
          <p:nvPr/>
        </p:nvSpPr>
        <p:spPr>
          <a:xfrm>
            <a:off x="4059936" y="27111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690872" y="1993392"/>
            <a:ext cx="18288" cy="1143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099816" y="1984248"/>
            <a:ext cx="1600200" cy="1828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090672" y="1993392"/>
            <a:ext cx="18288" cy="457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008376" y="20025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5340096" y="2528316"/>
            <a:ext cx="91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422392" y="2537460"/>
            <a:ext cx="18288" cy="1143000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68096" y="3671316"/>
            <a:ext cx="4663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21792" y="35890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5468112" y="29443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57200" y="3552444"/>
            <a:ext cx="256032" cy="256032"/>
          </a:xfrm>
          <a:prstGeom prst="rect">
            <a:avLst/>
          </a:prstGeom>
          <a:solidFill>
            <a:srgbClr val="943C31"/>
          </a:solidFill>
          <a:ln/>
        </p:spPr>
      </p:sp>
      <p:sp>
        <p:nvSpPr>
          <p:cNvPr id="58" name="Text 54"/>
          <p:cNvSpPr/>
          <p:nvPr/>
        </p:nvSpPr>
        <p:spPr>
          <a:xfrm>
            <a:off x="457200" y="3552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768096" y="3246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13816" y="3246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Tool Result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2176272" y="3671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286000" y="3589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2414016" y="3182112"/>
            <a:ext cx="1371600" cy="996696"/>
          </a:xfrm>
          <a:prstGeom prst="roundRect">
            <a:avLst>
              <a:gd name="adj" fmla="val 9174"/>
            </a:avLst>
          </a:prstGeom>
          <a:solidFill>
            <a:srgbClr val="009B81"/>
          </a:solidFill>
          <a:ln/>
        </p:spPr>
      </p:sp>
      <p:pic>
        <p:nvPicPr>
          <p:cNvPr id="64" name="Image 2" descr="/home/ask/sync/projects/dev/numa-ai-pres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3227832"/>
            <a:ext cx="274320" cy="274320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2414016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66" name="Shape 61"/>
          <p:cNvSpPr/>
          <p:nvPr/>
        </p:nvSpPr>
        <p:spPr>
          <a:xfrm>
            <a:off x="3822192" y="3671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3931920" y="3589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4059936" y="32506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E2841"/>
          </a:solidFill>
          <a:ln/>
        </p:spPr>
      </p:sp>
      <p:sp>
        <p:nvSpPr>
          <p:cNvPr id="69" name="Text 64"/>
          <p:cNvSpPr/>
          <p:nvPr/>
        </p:nvSpPr>
        <p:spPr>
          <a:xfrm>
            <a:off x="4059936" y="32506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70" name="Shape 65"/>
          <p:cNvSpPr/>
          <p:nvPr/>
        </p:nvSpPr>
        <p:spPr>
          <a:xfrm>
            <a:off x="4059936" y="355244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562C"/>
          </a:solidFill>
          <a:ln/>
        </p:spPr>
      </p:sp>
      <p:sp>
        <p:nvSpPr>
          <p:cNvPr id="71" name="Text 66"/>
          <p:cNvSpPr/>
          <p:nvPr/>
        </p:nvSpPr>
        <p:spPr>
          <a:xfrm>
            <a:off x="4059936" y="35524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72" name="Shape 67"/>
          <p:cNvSpPr/>
          <p:nvPr/>
        </p:nvSpPr>
        <p:spPr>
          <a:xfrm>
            <a:off x="4059936" y="385419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9B81"/>
          </a:solidFill>
          <a:ln/>
        </p:spPr>
      </p:sp>
      <p:sp>
        <p:nvSpPr>
          <p:cNvPr id="73" name="Text 68"/>
          <p:cNvSpPr/>
          <p:nvPr/>
        </p:nvSpPr>
        <p:spPr>
          <a:xfrm>
            <a:off x="4059936" y="38541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4690872" y="3136392"/>
            <a:ext cx="18288" cy="1143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3099816" y="3127248"/>
            <a:ext cx="1600200" cy="1828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3090672" y="3136392"/>
            <a:ext cx="18288" cy="457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3008376" y="31455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78" name="Shape 73"/>
          <p:cNvSpPr/>
          <p:nvPr/>
        </p:nvSpPr>
        <p:spPr>
          <a:xfrm>
            <a:off x="5340096" y="3671316"/>
            <a:ext cx="91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5422392" y="3680460"/>
            <a:ext cx="18288" cy="1143000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68096" y="4814316"/>
            <a:ext cx="4663440" cy="18288"/>
          </a:xfrm>
          <a:prstGeom prst="rect">
            <a:avLst/>
          </a:prstGeom>
          <a:solidFill>
            <a:srgbClr val="8FA1FF"/>
          </a:solidFill>
          <a:ln w="12700">
            <a:solidFill>
              <a:srgbClr val="8FA1FF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621792" y="47320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2" name="Text 77"/>
          <p:cNvSpPr/>
          <p:nvPr/>
        </p:nvSpPr>
        <p:spPr>
          <a:xfrm>
            <a:off x="5468112" y="40873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900" dirty="0"/>
          </a:p>
        </p:txBody>
      </p:sp>
      <p:sp>
        <p:nvSpPr>
          <p:cNvPr id="83" name="Shape 78"/>
          <p:cNvSpPr/>
          <p:nvPr/>
        </p:nvSpPr>
        <p:spPr>
          <a:xfrm>
            <a:off x="457200" y="4695444"/>
            <a:ext cx="256032" cy="256032"/>
          </a:xfrm>
          <a:prstGeom prst="rect">
            <a:avLst/>
          </a:prstGeom>
          <a:solidFill>
            <a:srgbClr val="943C31"/>
          </a:solidFill>
          <a:ln/>
        </p:spPr>
      </p:sp>
      <p:sp>
        <p:nvSpPr>
          <p:cNvPr id="84" name="Text 79"/>
          <p:cNvSpPr/>
          <p:nvPr/>
        </p:nvSpPr>
        <p:spPr>
          <a:xfrm>
            <a:off x="457200" y="4695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5" name="Shape 80"/>
          <p:cNvSpPr/>
          <p:nvPr/>
        </p:nvSpPr>
        <p:spPr>
          <a:xfrm>
            <a:off x="768096" y="43891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813816" y="4389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Tool Result</a:t>
            </a:r>
            <a:endParaRPr lang="en-US" sz="1200" dirty="0"/>
          </a:p>
        </p:txBody>
      </p:sp>
      <p:sp>
        <p:nvSpPr>
          <p:cNvPr id="87" name="Shape 82"/>
          <p:cNvSpPr/>
          <p:nvPr/>
        </p:nvSpPr>
        <p:spPr>
          <a:xfrm>
            <a:off x="2176272" y="4814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2286000" y="4732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9" name="Shape 84"/>
          <p:cNvSpPr/>
          <p:nvPr/>
        </p:nvSpPr>
        <p:spPr>
          <a:xfrm>
            <a:off x="2414016" y="4325112"/>
            <a:ext cx="1371600" cy="996696"/>
          </a:xfrm>
          <a:prstGeom prst="roundRect">
            <a:avLst>
              <a:gd name="adj" fmla="val 9174"/>
            </a:avLst>
          </a:prstGeom>
          <a:solidFill>
            <a:srgbClr val="009B81"/>
          </a:solidFill>
          <a:ln/>
        </p:spPr>
      </p:sp>
      <p:pic>
        <p:nvPicPr>
          <p:cNvPr id="90" name="Image 3" descr="/home/ask/sync/projects/dev/numa-ai-pres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4370832"/>
            <a:ext cx="274320" cy="274320"/>
          </a:xfrm>
          <a:prstGeom prst="rect">
            <a:avLst/>
          </a:prstGeom>
        </p:spPr>
      </p:pic>
      <p:sp>
        <p:nvSpPr>
          <p:cNvPr id="91" name="Text 85"/>
          <p:cNvSpPr/>
          <p:nvPr/>
        </p:nvSpPr>
        <p:spPr>
          <a:xfrm>
            <a:off x="2414016" y="4645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92" name="Shape 86"/>
          <p:cNvSpPr/>
          <p:nvPr/>
        </p:nvSpPr>
        <p:spPr>
          <a:xfrm>
            <a:off x="3822192" y="4814316"/>
            <a:ext cx="182880" cy="18288"/>
          </a:xfrm>
          <a:prstGeom prst="rect">
            <a:avLst/>
          </a:prstGeom>
          <a:solidFill>
            <a:srgbClr val="009B81"/>
          </a:solidFill>
          <a:ln w="12700">
            <a:solidFill>
              <a:srgbClr val="009B81"/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3931920" y="47320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4" name="Shape 88"/>
          <p:cNvSpPr/>
          <p:nvPr/>
        </p:nvSpPr>
        <p:spPr>
          <a:xfrm>
            <a:off x="4059936" y="43936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E2841"/>
          </a:solidFill>
          <a:ln/>
        </p:spPr>
      </p:sp>
      <p:sp>
        <p:nvSpPr>
          <p:cNvPr id="95" name="Text 89"/>
          <p:cNvSpPr/>
          <p:nvPr/>
        </p:nvSpPr>
        <p:spPr>
          <a:xfrm>
            <a:off x="4059936" y="43936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96" name="Shape 90"/>
          <p:cNvSpPr/>
          <p:nvPr/>
        </p:nvSpPr>
        <p:spPr>
          <a:xfrm>
            <a:off x="4059936" y="469544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562C"/>
          </a:solidFill>
          <a:ln/>
        </p:spPr>
      </p:sp>
      <p:sp>
        <p:nvSpPr>
          <p:cNvPr id="97" name="Text 91"/>
          <p:cNvSpPr/>
          <p:nvPr/>
        </p:nvSpPr>
        <p:spPr>
          <a:xfrm>
            <a:off x="4059936" y="46954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98" name="Shape 92"/>
          <p:cNvSpPr/>
          <p:nvPr/>
        </p:nvSpPr>
        <p:spPr>
          <a:xfrm>
            <a:off x="4059936" y="499719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9B81"/>
          </a:solidFill>
          <a:ln/>
        </p:spPr>
      </p:sp>
      <p:sp>
        <p:nvSpPr>
          <p:cNvPr id="99" name="Text 93"/>
          <p:cNvSpPr/>
          <p:nvPr/>
        </p:nvSpPr>
        <p:spPr>
          <a:xfrm>
            <a:off x="4059936" y="49971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00" dirty="0"/>
          </a:p>
        </p:txBody>
      </p:sp>
      <p:sp>
        <p:nvSpPr>
          <p:cNvPr id="100" name="Shape 94"/>
          <p:cNvSpPr/>
          <p:nvPr/>
        </p:nvSpPr>
        <p:spPr>
          <a:xfrm>
            <a:off x="4690872" y="4279392"/>
            <a:ext cx="18288" cy="1143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3099816" y="4270248"/>
            <a:ext cx="1600200" cy="1828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3090672" y="4279392"/>
            <a:ext cx="18288" cy="457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3008376" y="42885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4" name="Shape 98"/>
          <p:cNvSpPr/>
          <p:nvPr/>
        </p:nvSpPr>
        <p:spPr>
          <a:xfrm>
            <a:off x="6117336" y="868680"/>
            <a:ext cx="5614416" cy="3474720"/>
          </a:xfrm>
          <a:prstGeom prst="roundRect">
            <a:avLst>
              <a:gd name="adj" fmla="val 3158"/>
            </a:avLst>
          </a:prstGeom>
          <a:solidFill>
            <a:srgbClr val="0E2841"/>
          </a:solidFill>
          <a:ln/>
        </p:spPr>
      </p:sp>
      <p:sp>
        <p:nvSpPr>
          <p:cNvPr id="105" name="Text 99"/>
          <p:cNvSpPr/>
          <p:nvPr/>
        </p:nvSpPr>
        <p:spPr>
          <a:xfrm>
            <a:off x="6254496" y="960120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Controls the Loop</a:t>
            </a:r>
            <a:endParaRPr lang="en-US" sz="1600" dirty="0"/>
          </a:p>
        </p:txBody>
      </p:sp>
      <p:sp>
        <p:nvSpPr>
          <p:cNvPr id="106" name="Shape 100"/>
          <p:cNvSpPr/>
          <p:nvPr/>
        </p:nvSpPr>
        <p:spPr>
          <a:xfrm>
            <a:off x="6254496" y="1371600"/>
            <a:ext cx="5340096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1"/>
          <p:cNvSpPr/>
          <p:nvPr/>
        </p:nvSpPr>
        <p:spPr>
          <a:xfrm>
            <a:off x="6254496" y="1463040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tool execution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read/write, web search, code run)</a:t>
            </a:r>
            <a:endParaRPr lang="en-US" sz="1400" dirty="0"/>
          </a:p>
        </p:txBody>
      </p:sp>
      <p:sp>
        <p:nvSpPr>
          <p:cNvPr id="108" name="Text 102"/>
          <p:cNvSpPr/>
          <p:nvPr/>
        </p:nvSpPr>
        <p:spPr>
          <a:xfrm>
            <a:off x="6254496" y="2240280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Skills, MCP tools, chat history, and agent personality combined into one big context input</a:t>
            </a:r>
            <a:endParaRPr lang="en-US" sz="1400" dirty="0"/>
          </a:p>
        </p:txBody>
      </p:sp>
      <p:sp>
        <p:nvSpPr>
          <p:cNvPr id="109" name="Text 103"/>
          <p:cNvSpPr/>
          <p:nvPr/>
        </p:nvSpPr>
        <p:spPr>
          <a:xfrm>
            <a:off x="6254496" y="3017520"/>
            <a:ext cx="5340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Adds features like memory — a dynamic agent personality that evolves</a:t>
            </a:r>
            <a:endParaRPr lang="en-US" sz="1400" dirty="0"/>
          </a:p>
        </p:txBody>
      </p:sp>
      <p:sp>
        <p:nvSpPr>
          <p:cNvPr id="110" name="Text 104"/>
          <p:cNvSpPr/>
          <p:nvPr/>
        </p:nvSpPr>
        <p:spPr>
          <a:xfrm>
            <a:off x="6254496" y="3840480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can have big impact on output quality!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E28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Differ — One Mental Model to Start With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A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dimensions matter too — see right panel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2971800" cy="219456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5" name="Shape 3"/>
          <p:cNvSpPr/>
          <p:nvPr/>
        </p:nvSpPr>
        <p:spPr>
          <a:xfrm>
            <a:off x="4343400" y="1371600"/>
            <a:ext cx="2971800" cy="2194560"/>
          </a:xfrm>
          <a:prstGeom prst="rect">
            <a:avLst/>
          </a:prstGeom>
          <a:solidFill>
            <a:srgbClr val="E6EA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566160"/>
            <a:ext cx="2971800" cy="219456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3566160"/>
            <a:ext cx="2971800" cy="2194560"/>
          </a:xfrm>
          <a:prstGeom prst="rect">
            <a:avLst/>
          </a:prstGeom>
          <a:solidFill>
            <a:srgbClr val="FDE8E2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552444"/>
            <a:ext cx="5943600" cy="2743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9684" y="1371600"/>
            <a:ext cx="27432" cy="43891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1170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3672" y="5742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96912" y="3456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Safety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" y="5212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Safety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5852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5852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15544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09B8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reasoning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21488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0A88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2743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0A88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Search-integrated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15544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8FA1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agentic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21488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E284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Codex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Code-focused agentic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0" y="40233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562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288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1371600"/>
            <a:ext cx="3959352" cy="4389120"/>
          </a:xfrm>
          <a:prstGeom prst="roundRect">
            <a:avLst>
              <a:gd name="adj" fmla="val 2771"/>
            </a:avLst>
          </a:prstGeom>
          <a:solidFill>
            <a:srgbClr val="FFFFFF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5087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Differences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55280" y="1920240"/>
            <a:ext cx="3593592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0116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A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228600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pedantic + good in many languages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clear recommendations (less safe) on legal matters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at structured, step-by-step tasks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3474720"/>
            <a:ext cx="3593592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35661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55280" y="38404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corporate-rounded and very safe in output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Extremely good analytical capability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at nuanced, ambiguous problems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E28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5545836" cy="5760720"/>
          </a:xfrm>
          <a:prstGeom prst="rect">
            <a:avLst/>
          </a:prstGeom>
          <a:solidFill>
            <a:srgbClr val="F9F7F4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85916" y="640080"/>
            <a:ext cx="5545836" cy="5760720"/>
          </a:xfrm>
          <a:prstGeom prst="rect">
            <a:avLst/>
          </a:prstGeom>
          <a:solidFill>
            <a:srgbClr val="F9F7F4"/>
          </a:solidFill>
          <a:ln w="9525">
            <a:solidFill>
              <a:srgbClr val="C6C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67512"/>
            <a:ext cx="5545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85916" y="667512"/>
            <a:ext cx="5545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506" y="1097280"/>
            <a:ext cx="1691640" cy="685800"/>
          </a:xfrm>
          <a:prstGeom prst="rect">
            <a:avLst/>
          </a:prstGeom>
          <a:solidFill>
            <a:srgbClr val="009B81"/>
          </a:solidFill>
          <a:ln/>
        </p:spPr>
      </p:sp>
      <p:sp>
        <p:nvSpPr>
          <p:cNvPr id="8" name="Text 6"/>
          <p:cNvSpPr/>
          <p:nvPr/>
        </p:nvSpPr>
        <p:spPr>
          <a:xfrm>
            <a:off x="619506" y="1097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Consultant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84298" y="1097280"/>
            <a:ext cx="1691640" cy="685800"/>
          </a:xfrm>
          <a:prstGeom prst="rect">
            <a:avLst/>
          </a:prstGeom>
          <a:solidFill>
            <a:srgbClr val="009B81"/>
          </a:solidFill>
          <a:ln/>
        </p:spPr>
      </p:sp>
      <p:sp>
        <p:nvSpPr>
          <p:cNvPr id="10" name="Text 8"/>
          <p:cNvSpPr/>
          <p:nvPr/>
        </p:nvSpPr>
        <p:spPr>
          <a:xfrm>
            <a:off x="2384298" y="1097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Brainstorm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49090" y="1097280"/>
            <a:ext cx="1691640" cy="685800"/>
          </a:xfrm>
          <a:prstGeom prst="rect">
            <a:avLst/>
          </a:prstGeom>
          <a:solidFill>
            <a:srgbClr val="009B81"/>
          </a:solidFill>
          <a:ln/>
        </p:spPr>
      </p:sp>
      <p:sp>
        <p:nvSpPr>
          <p:cNvPr id="12" name="Text 10"/>
          <p:cNvSpPr/>
          <p:nvPr/>
        </p:nvSpPr>
        <p:spPr>
          <a:xfrm>
            <a:off x="4149090" y="1097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506" y="2103120"/>
            <a:ext cx="1691640" cy="685800"/>
          </a:xfrm>
          <a:prstGeom prst="rect">
            <a:avLst/>
          </a:prstGeom>
          <a:solidFill>
            <a:srgbClr val="C0A883"/>
          </a:solidFill>
          <a:ln/>
        </p:spPr>
      </p:sp>
      <p:sp>
        <p:nvSpPr>
          <p:cNvPr id="14" name="Text 12"/>
          <p:cNvSpPr/>
          <p:nvPr/>
        </p:nvSpPr>
        <p:spPr>
          <a:xfrm>
            <a:off x="619506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5.4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(read-only)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56182" y="1783080"/>
            <a:ext cx="18288" cy="32004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17520"/>
            <a:ext cx="5271516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63240"/>
            <a:ext cx="5271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337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6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52144" y="356616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09928" y="3566160"/>
            <a:ext cx="80010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24" name="Text 22"/>
          <p:cNvSpPr/>
          <p:nvPr/>
        </p:nvSpPr>
        <p:spPr>
          <a:xfrm>
            <a:off x="1709928" y="3566160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pptx-numa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4892" y="356616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26" name="Text 24"/>
          <p:cNvSpPr/>
          <p:nvPr/>
        </p:nvSpPr>
        <p:spPr>
          <a:xfrm>
            <a:off x="2564892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2676" y="356616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28" name="Text 26"/>
          <p:cNvSpPr/>
          <p:nvPr/>
        </p:nvSpPr>
        <p:spPr>
          <a:xfrm>
            <a:off x="3122676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80460" y="3566160"/>
            <a:ext cx="107442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30" name="Text 28"/>
          <p:cNvSpPr/>
          <p:nvPr/>
        </p:nvSpPr>
        <p:spPr>
          <a:xfrm>
            <a:off x="3680460" y="3566160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9744" y="3566160"/>
            <a:ext cx="93726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566160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822192"/>
            <a:ext cx="937260" cy="201168"/>
          </a:xfrm>
          <a:prstGeom prst="roundRect">
            <a:avLst>
              <a:gd name="adj" fmla="val 22727"/>
            </a:avLst>
          </a:prstGeom>
          <a:solidFill>
            <a:srgbClr val="009B81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822192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nano-banana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87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916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745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74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4028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231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89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718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04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033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862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6908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348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177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8348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6636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924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3212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15000" y="413766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6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Support only: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94360" y="446227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F562C"/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linkedin-cli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655064" y="4462272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F562C"/>
          </a:solidFill>
          <a:ln/>
        </p:spPr>
      </p:sp>
      <p:sp>
        <p:nvSpPr>
          <p:cNvPr id="68" name="Text 66"/>
          <p:cNvSpPr/>
          <p:nvPr/>
        </p:nvSpPr>
        <p:spPr>
          <a:xfrm>
            <a:off x="1655064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linkedin-content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990088" y="4462272"/>
            <a:ext cx="1623060" cy="201168"/>
          </a:xfrm>
          <a:prstGeom prst="roundRect">
            <a:avLst>
              <a:gd name="adj" fmla="val 22727"/>
            </a:avLst>
          </a:prstGeom>
          <a:solidFill>
            <a:srgbClr val="FF562C"/>
          </a:solidFill>
          <a:ln/>
        </p:spPr>
      </p:sp>
      <p:sp>
        <p:nvSpPr>
          <p:cNvPr id="70" name="Text 68"/>
          <p:cNvSpPr/>
          <p:nvPr/>
        </p:nvSpPr>
        <p:spPr>
          <a:xfrm>
            <a:off x="2990088" y="4462272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social-media-carousel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044434" y="1097280"/>
            <a:ext cx="1828800" cy="685800"/>
          </a:xfrm>
          <a:prstGeom prst="rect">
            <a:avLst/>
          </a:prstGeom>
          <a:solidFill>
            <a:srgbClr val="009B81"/>
          </a:solidFill>
          <a:ln/>
        </p:spPr>
      </p:sp>
      <p:sp>
        <p:nvSpPr>
          <p:cNvPr id="72" name="Text 70"/>
          <p:cNvSpPr/>
          <p:nvPr/>
        </p:nvSpPr>
        <p:spPr>
          <a:xfrm>
            <a:off x="8044434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809994" y="2103120"/>
            <a:ext cx="2011680" cy="685800"/>
          </a:xfrm>
          <a:prstGeom prst="rect">
            <a:avLst/>
          </a:prstGeom>
          <a:solidFill>
            <a:srgbClr val="8FA1FF"/>
          </a:solidFill>
          <a:ln/>
        </p:spPr>
      </p:sp>
      <p:sp>
        <p:nvSpPr>
          <p:cNvPr id="74" name="Text 72"/>
          <p:cNvSpPr/>
          <p:nvPr/>
        </p:nvSpPr>
        <p:spPr>
          <a:xfrm>
            <a:off x="6809994" y="2103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Scout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095994" y="2103120"/>
            <a:ext cx="2011680" cy="685800"/>
          </a:xfrm>
          <a:prstGeom prst="rect">
            <a:avLst/>
          </a:prstGeom>
          <a:solidFill>
            <a:srgbClr val="8FA1FF"/>
          </a:solidFill>
          <a:ln/>
        </p:spPr>
      </p:sp>
      <p:sp>
        <p:nvSpPr>
          <p:cNvPr id="76" name="Text 74"/>
          <p:cNvSpPr/>
          <p:nvPr/>
        </p:nvSpPr>
        <p:spPr>
          <a:xfrm>
            <a:off x="9095994" y="2103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8949690" y="178308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15834" y="1933956"/>
            <a:ext cx="2286000" cy="18288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06690" y="194310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92690" y="194310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38594" y="3108960"/>
            <a:ext cx="1828800" cy="685800"/>
          </a:xfrm>
          <a:prstGeom prst="rect">
            <a:avLst/>
          </a:prstGeom>
          <a:solidFill>
            <a:srgbClr val="C0A883"/>
          </a:solidFill>
          <a:ln/>
        </p:spPr>
      </p:sp>
      <p:sp>
        <p:nvSpPr>
          <p:cNvPr id="82" name="Text 80"/>
          <p:cNvSpPr/>
          <p:nvPr/>
        </p:nvSpPr>
        <p:spPr>
          <a:xfrm>
            <a:off x="7038594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Codex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(read-only)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9050274" y="3108960"/>
            <a:ext cx="1828800" cy="685800"/>
          </a:xfrm>
          <a:prstGeom prst="rect">
            <a:avLst/>
          </a:prstGeom>
          <a:solidFill>
            <a:srgbClr val="C0A883"/>
          </a:solidFill>
          <a:ln/>
        </p:spPr>
      </p:sp>
      <p:sp>
        <p:nvSpPr>
          <p:cNvPr id="84" name="Text 82"/>
          <p:cNvSpPr/>
          <p:nvPr/>
        </p:nvSpPr>
        <p:spPr>
          <a:xfrm>
            <a:off x="9050274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 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(read-only)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0092690" y="278892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52994" y="2939796"/>
            <a:ext cx="2011680" cy="18288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43850" y="294894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55530" y="2948940"/>
            <a:ext cx="18288" cy="160020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23076" y="4023360"/>
            <a:ext cx="5271516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23076" y="4069080"/>
            <a:ext cx="5271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6323076" y="4343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6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agents: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6323076" y="457200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93" name="Text 91"/>
          <p:cNvSpPr/>
          <p:nvPr/>
        </p:nvSpPr>
        <p:spPr>
          <a:xfrm>
            <a:off x="6323076" y="45720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880860" y="457200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95" name="Text 93"/>
          <p:cNvSpPr/>
          <p:nvPr/>
        </p:nvSpPr>
        <p:spPr>
          <a:xfrm>
            <a:off x="6880860" y="45720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438644" y="4572000"/>
            <a:ext cx="80010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97" name="Text 95"/>
          <p:cNvSpPr/>
          <p:nvPr/>
        </p:nvSpPr>
        <p:spPr>
          <a:xfrm>
            <a:off x="7438644" y="4572000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pptx-numa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293608" y="457200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99" name="Text 97"/>
          <p:cNvSpPr/>
          <p:nvPr/>
        </p:nvSpPr>
        <p:spPr>
          <a:xfrm>
            <a:off x="8293608" y="45720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8851392" y="457200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101" name="Text 99"/>
          <p:cNvSpPr/>
          <p:nvPr/>
        </p:nvSpPr>
        <p:spPr>
          <a:xfrm>
            <a:off x="8851392" y="45720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9409176" y="4572000"/>
            <a:ext cx="121158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9409176" y="4572000"/>
            <a:ext cx="121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0675620" y="4572000"/>
            <a:ext cx="1074420" cy="201168"/>
          </a:xfrm>
          <a:prstGeom prst="roundRect">
            <a:avLst>
              <a:gd name="adj" fmla="val 22727"/>
            </a:avLst>
          </a:prstGeom>
          <a:solidFill>
            <a:srgbClr val="8FA1FF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675620" y="4572000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skill-creator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3230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5059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888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717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5459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374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203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032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861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6899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518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3347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5176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005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88339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662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491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4320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6149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79779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9806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1635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464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5293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71219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89507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07795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26083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443716" y="5143500"/>
            <a:ext cx="109728" cy="9144"/>
          </a:xfrm>
          <a:prstGeom prst="rect">
            <a:avLst/>
          </a:prstGeom>
          <a:solidFill>
            <a:srgbClr val="C6C6D0"/>
          </a:solidFill>
          <a:ln w="12700">
            <a:solidFill>
              <a:srgbClr val="C6C6D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323076" y="5239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6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only: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323076" y="5468112"/>
            <a:ext cx="937260" cy="201168"/>
          </a:xfrm>
          <a:prstGeom prst="roundRect">
            <a:avLst>
              <a:gd name="adj" fmla="val 22727"/>
            </a:avLst>
          </a:prstGeom>
          <a:solidFill>
            <a:srgbClr val="0E2841"/>
          </a:solidFill>
          <a:ln/>
        </p:spPr>
      </p:sp>
      <p:sp>
        <p:nvSpPr>
          <p:cNvPr id="137" name="Text 135"/>
          <p:cNvSpPr/>
          <p:nvPr/>
        </p:nvSpPr>
        <p:spPr>
          <a:xfrm>
            <a:off x="6323076" y="5468112"/>
            <a:ext cx="937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replit-plan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7315200" y="54681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E2841"/>
          </a:solidFill>
          <a:ln/>
        </p:spPr>
      </p:sp>
      <p:sp>
        <p:nvSpPr>
          <p:cNvPr id="139" name="Text 137"/>
          <p:cNvSpPr/>
          <p:nvPr/>
        </p:nvSpPr>
        <p:spPr>
          <a:xfrm>
            <a:off x="7315200" y="54681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replit-prd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8238744" y="5468112"/>
            <a:ext cx="1074420" cy="201168"/>
          </a:xfrm>
          <a:prstGeom prst="roundRect">
            <a:avLst>
              <a:gd name="adj" fmla="val 22727"/>
            </a:avLst>
          </a:prstGeom>
          <a:solidFill>
            <a:srgbClr val="0E2841"/>
          </a:solidFill>
          <a:ln/>
        </p:spPr>
      </p:sp>
      <p:sp>
        <p:nvSpPr>
          <p:cNvPr id="141" name="Text 139"/>
          <p:cNvSpPr/>
          <p:nvPr/>
        </p:nvSpPr>
        <p:spPr>
          <a:xfrm>
            <a:off x="8238744" y="5468112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replit-prompt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Setup — Building Blocks &amp; Custom Architecture</dc:title>
  <dc:subject>PptxGenJS Presentation</dc:subject>
  <dc:creator>Numa Collective</dc:creator>
  <cp:lastModifiedBy>Numa Collective</cp:lastModifiedBy>
  <cp:revision>1</cp:revision>
  <dcterms:created xsi:type="dcterms:W3CDTF">2026-04-03T10:06:44Z</dcterms:created>
  <dcterms:modified xsi:type="dcterms:W3CDTF">2026-04-03T10:06:44Z</dcterms:modified>
</cp:coreProperties>
</file>